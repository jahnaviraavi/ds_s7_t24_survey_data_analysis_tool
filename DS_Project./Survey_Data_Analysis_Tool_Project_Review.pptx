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904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70E1-2B0B-A599-53ED-D5E2F202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3AB45-E2BE-4973-ED40-7FE8140B6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E74FD-2802-4C0C-F97D-DF77E1709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7A7AD-66AD-0BB6-34B6-9E32C09EC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1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.50sea.com/index.php/IJIST/article/view/1070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2352853226000544" TargetMode="External"/><Relationship Id="rId5" Type="http://schemas.openxmlformats.org/officeDocument/2006/relationships/hyperlink" Target="https://www.sciopen.com/article/10.23919/JSC.2025.0020" TargetMode="External"/><Relationship Id="rId4" Type="http://schemas.openxmlformats.org/officeDocument/2006/relationships/hyperlink" Target="https://beei.org/index.php/EEI/article/view/568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ir.org/2021/3/e24870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jitra.com/index.php/ijitra/article/view/192" TargetMode="External"/><Relationship Id="rId5" Type="http://schemas.openxmlformats.org/officeDocument/2006/relationships/hyperlink" Target="https://alfarabiuc.edu.iq/Journal/index.php/Farabi-Eng/en/article/view/111" TargetMode="External"/><Relationship Id="rId4" Type="http://schemas.openxmlformats.org/officeDocument/2006/relationships/hyperlink" Target="https://jutif.if.unsoed.ac.id/index.php/jurnal/article/view/490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550000"/>
          <a:ext cx="3702050" cy="1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4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Raavi Jahnavi – 2420030173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Thirumala Reddy Sagar Mounitha – 2420030330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SriHansika Saraf – 2420030556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B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Data Analysis Tool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900000" y="1550000"/>
            <a:ext cx="104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Students use social media platforms extensively, but their usage patterns and </a:t>
            </a:r>
            <a:r>
              <a:rPr lang="en-US" dirty="0" err="1"/>
              <a:t>behaviour</a:t>
            </a:r>
            <a:r>
              <a:rPr lang="en-US" dirty="0"/>
              <a:t> vary significantly in terms of </a:t>
            </a:r>
            <a:r>
              <a:rPr lang="en-US" b="1" dirty="0"/>
              <a:t>time spent, frequency, purpose, and level of engagement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Survey responses collected through </a:t>
            </a:r>
            <a:r>
              <a:rPr lang="en-US" b="1" dirty="0"/>
              <a:t>Google Sheets</a:t>
            </a:r>
            <a:r>
              <a:rPr lang="en-US" dirty="0"/>
              <a:t> and existing datasets from platforms such as </a:t>
            </a:r>
            <a:r>
              <a:rPr lang="en-US" b="1" dirty="0"/>
              <a:t>Kaggle</a:t>
            </a:r>
            <a:r>
              <a:rPr lang="en-US" dirty="0"/>
              <a:t> may contain missing values, inconsistent responses, duplicate records, and different data formats.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Manually cleaning and analyzing these datasets is </a:t>
            </a:r>
            <a:r>
              <a:rPr lang="en-US" b="1" dirty="0"/>
              <a:t>time-consuming, repetitive, and prone to errors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Existing analysis often focuses mainly on </a:t>
            </a:r>
            <a:r>
              <a:rPr lang="en-US" b="1" dirty="0"/>
              <a:t>basic statistics and visualization</a:t>
            </a:r>
            <a:r>
              <a:rPr lang="en-US" dirty="0"/>
              <a:t>, without combining data preprocessing, exploratory analysis, statistical testing, and machine learning in a single workflow.</a:t>
            </a:r>
          </a:p>
          <a:p>
            <a:pPr lvl="0"/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It is difficult to identify and classify students based on their </a:t>
            </a:r>
            <a:r>
              <a:rPr lang="en-US" b="1" dirty="0"/>
              <a:t>social media usage levels</a:t>
            </a:r>
            <a:r>
              <a:rPr lang="en-US" dirty="0"/>
              <a:t>, such as </a:t>
            </a:r>
            <a:r>
              <a:rPr lang="en-US" b="1" dirty="0"/>
              <a:t>Low, Moderate, and Heavy usage</a:t>
            </a:r>
            <a:r>
              <a:rPr lang="en-US" dirty="0"/>
              <a:t>, using raw survey data alone.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 is a need to analyze factors such as </a:t>
            </a:r>
            <a:r>
              <a:rPr lang="en-US" b="1" dirty="0"/>
              <a:t>daily screen time, frequency of social media use, preferred platforms, purpose of usage, sleep patterns, and academic performance</a:t>
            </a:r>
            <a:r>
              <a:rPr lang="en-US" dirty="0"/>
              <a:t> to understand student social media </a:t>
            </a:r>
            <a:r>
              <a:rPr lang="en-US" dirty="0" err="1"/>
              <a:t>behaviour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Therefore, an </a:t>
            </a:r>
            <a:r>
              <a:rPr lang="en-US" b="1" dirty="0"/>
              <a:t>automated Python-based platform</a:t>
            </a:r>
            <a:r>
              <a:rPr lang="en-US" dirty="0"/>
              <a:t> is proposed to collect and integrate Google Sheets survey responses with suitable public datasets, clean and analyze the data, perform statistical tests, apply machine learning classification, and present the results through </a:t>
            </a:r>
            <a:r>
              <a:rPr lang="en-US" b="1" dirty="0"/>
              <a:t>interactive visualizations and dashboards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Objectives Content"/>
          <p:cNvSpPr txBox="1"/>
          <p:nvPr/>
        </p:nvSpPr>
        <p:spPr>
          <a:xfrm>
            <a:off x="900000" y="1550000"/>
            <a:ext cx="104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Collect and organize </a:t>
            </a:r>
            <a:r>
              <a:rPr lang="en-US" sz="2000" b="1" dirty="0"/>
              <a:t>Google Sheets survey responses</a:t>
            </a:r>
            <a:r>
              <a:rPr lang="en-US" sz="2000" dirty="0"/>
              <a:t> along with relevant Kaggle datasets on student social media usage.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Clean and preprocess the data by handling </a:t>
            </a:r>
            <a:r>
              <a:rPr lang="en-US" sz="2000" b="1" dirty="0"/>
              <a:t>missing, duplicate, and inconsistent records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 </a:t>
            </a:r>
            <a:r>
              <a:rPr lang="en-US" sz="2000" b="1" dirty="0"/>
              <a:t>EDA</a:t>
            </a:r>
            <a:r>
              <a:rPr lang="en-US" sz="2000" dirty="0"/>
              <a:t> to analyze social media usage time, frequency, preferred platforms, and user </a:t>
            </a:r>
            <a:r>
              <a:rPr lang="en-US" sz="2000" dirty="0" err="1"/>
              <a:t>behaviour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</a:t>
            </a:r>
            <a:r>
              <a:rPr lang="en-US" sz="2000" b="1" dirty="0"/>
              <a:t>statistical techniques</a:t>
            </a:r>
            <a:r>
              <a:rPr lang="en-US" sz="2000" dirty="0"/>
              <a:t> such as correlation, covariance, hypothesis testing, and Chi-square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Build and compare </a:t>
            </a:r>
            <a:r>
              <a:rPr lang="en-US" sz="2000" b="1" dirty="0"/>
              <a:t>five ML classifiers</a:t>
            </a:r>
            <a:r>
              <a:rPr lang="en-US" sz="2000" dirty="0"/>
              <a:t> to classify students as </a:t>
            </a:r>
            <a:r>
              <a:rPr lang="en-US" sz="2000" b="1" dirty="0"/>
              <a:t>Low, Moderate, or Heavy users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Evaluate models using </a:t>
            </a:r>
            <a:r>
              <a:rPr lang="en-US" sz="2000" b="1" dirty="0"/>
              <a:t>accuracy, precision, recall, F1-score, and confusion matrix</a:t>
            </a:r>
            <a:r>
              <a:rPr lang="en-US" sz="2000" dirty="0"/>
              <a:t> </a:t>
            </a:r>
          </a:p>
          <a:p>
            <a:pPr lvl="0"/>
            <a:r>
              <a:rPr lang="en-US" sz="2000" dirty="0"/>
              <a:t>       Present the results through an </a:t>
            </a:r>
            <a:r>
              <a:rPr lang="en-US" sz="2000" b="1" dirty="0"/>
              <a:t>interactive Power BI dashboard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104920"/>
              </p:ext>
            </p:extLst>
          </p:nvPr>
        </p:nvGraphicFramePr>
        <p:xfrm>
          <a:off x="274645" y="365760"/>
          <a:ext cx="11642705" cy="6492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441964426"/>
                    </a:ext>
                  </a:extLst>
                </a:gridCol>
              </a:tblGrid>
              <a:tr h="59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Links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284">
                <a:tc>
                  <a:txBody>
                    <a:bodyPr/>
                    <a:lstStyle/>
                    <a:p>
                      <a:r>
                        <a:rPr lang="en-US" sz="1200"/>
                        <a:t>Ehsan, T. [4]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for Detecting Social Media Addiction Patterns: Analyzing User Behavior and Mental Health Data, </a:t>
                      </a:r>
                      <a:r>
                        <a:rPr lang="en-US" sz="1200" i="1" dirty="0"/>
                        <a:t>Int. J. of Innovations in Science &amp; Technology</a:t>
                      </a:r>
                      <a:r>
                        <a:rPr lang="en-US" sz="1200" dirty="0"/>
                        <a:t>, 6(4), 2024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Survey-based dataset combining user behavior, mental-health parameters, and usage stats; Random Forest used to classify addiction into Low/Medium/High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More hours on social media correlate with higher distraction, irritation, and emotional issues; RF separates severity classes well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Relies on self-reported survey data; not validated against real-time behavioral tracking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https://journal.50sea.com/index.php/IJIST/article/view/1070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44284">
                <a:tc>
                  <a:txBody>
                    <a:bodyPr/>
                    <a:lstStyle/>
                    <a:p>
                      <a:r>
                        <a:rPr lang="en-US" sz="1200"/>
                        <a:t>Mim, Firoz, Islam, Hasan &amp; Habib [5]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Study on Social Media Addiction Analysis on the People of Bangladesh Using ML Algorithms, </a:t>
                      </a:r>
                      <a:r>
                        <a:rPr lang="en-US" sz="1200" i="1" dirty="0"/>
                        <a:t>Bulletin of Electrical Engineering and Informatics</a:t>
                      </a:r>
                      <a:r>
                        <a:rPr lang="en-US" sz="1200" dirty="0"/>
                        <a:t>, 13(5), 2024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Survey of 1,417 individuals; DT, RF, SVC, KNN, and Multinomial NB compared via holdout split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ML effectively segments users by reliance level; addiction linked to depression/frustration indicators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Single-country sample; no explainability (XAI) or interactive dashboard included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https://beei.org/index.php/EEI/article/view/5680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74368">
                <a:tc>
                  <a:txBody>
                    <a:bodyPr/>
                    <a:lstStyle/>
                    <a:p>
                      <a:r>
                        <a:rPr lang="en-US" sz="1200" dirty="0"/>
                        <a:t>(Author, JSC) [6]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Digital Addiction Patterns with Machine Learning for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Digital-Wellness Interventions, </a:t>
                      </a:r>
                      <a:r>
                        <a:rPr lang="en-US" sz="1200" i="1" dirty="0"/>
                        <a:t>Journal of Social Computing</a:t>
                      </a:r>
                      <a:r>
                        <a:rPr lang="en-US" sz="1200" dirty="0"/>
                        <a:t>, 2025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Predictive modelling + clustering to segment users by addiction risk; causal modelling for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recommendations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Combining supervised prediction with clustering supports scalable, non-invasive digital-health interventions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Clinical validation not yet performed; conceptual framework only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https://www.sciopen.com/article/10.23919/JSC.2025.0020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274368">
                <a:tc>
                  <a:txBody>
                    <a:bodyPr/>
                    <a:lstStyle/>
                    <a:p>
                      <a:r>
                        <a:rPr lang="en-US" sz="1200" dirty="0"/>
                        <a:t>Zarate, Jarrad, Stavropoulos, Conkey-Morrison &amp; Hunt [7]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Mental Health, Personality, and Cross-Addictions as Predictors of Social Media Addiction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2-year longitudinal design; Random Forest and other classifiers predict problematic social media use (PSMU)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outperformed other models; anxiety and disengagement coping predicted future PSMU; baseline symptoms were highly stable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Cross-addictive </a:t>
                      </a:r>
                      <a:r>
                        <a:rPr lang="en-US" sz="1200" dirty="0" err="1"/>
                        <a:t>behaviours</a:t>
                      </a:r>
                      <a:r>
                        <a:rPr lang="en-US" sz="1200" dirty="0"/>
                        <a:t> were weak predictors once mental health was controlled for; relies on self-report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https://www.sciencedirect.com/science/article/pii/S2352853226000544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31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3" y="-8835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AA7D-2EB6-2345-18DD-5B65FBE4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E1FB17-D7F0-27BF-FF88-F8CFF0455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22956"/>
              </p:ext>
            </p:extLst>
          </p:nvPr>
        </p:nvGraphicFramePr>
        <p:xfrm>
          <a:off x="274646" y="689466"/>
          <a:ext cx="11642705" cy="544736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441964426"/>
                    </a:ext>
                  </a:extLst>
                </a:gridCol>
              </a:tblGrid>
              <a:tr h="536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/>
                        <a:t>Kim, Lee &amp; Park [8]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for Mental Health in Social Media: Bibliometric Study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Bibliometric analysis of 565 Scopus/</a:t>
                      </a:r>
                      <a:r>
                        <a:rPr lang="en-US" sz="1200" dirty="0" err="1"/>
                        <a:t>WoS</a:t>
                      </a:r>
                      <a:r>
                        <a:rPr lang="en-US" sz="1200" dirty="0"/>
                        <a:t> papers (2015–2020); keyword co-occurrence network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89% of high-citation studies use supervised learning (SVM, Naïve Bayes, DT); field shows continuous growth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Descriptive/bibliometric only — no predictive model built; limited to indexed databases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https://www.jmir.org/2021/3/e24870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 err="1"/>
                        <a:t>Wayahdi</a:t>
                      </a:r>
                      <a:r>
                        <a:rPr lang="en-US" sz="1200" dirty="0"/>
                        <a:t> &amp; </a:t>
                      </a:r>
                      <a:r>
                        <a:rPr lang="en-US" sz="1200" dirty="0" err="1"/>
                        <a:t>Ruziq</a:t>
                      </a:r>
                      <a:r>
                        <a:rPr lang="en-US" sz="1200" dirty="0"/>
                        <a:t> [9]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Smartphone Addiction Levels with K-Nearest Neighbors Using User Behavior Patterns, </a:t>
                      </a:r>
                      <a:r>
                        <a:rPr lang="en-US" sz="1200" i="1" dirty="0" err="1"/>
                        <a:t>Jurnal</a:t>
                      </a:r>
                      <a:r>
                        <a:rPr lang="en-US" sz="1200" i="1" dirty="0"/>
                        <a:t> Teknik </a:t>
                      </a:r>
                      <a:r>
                        <a:rPr lang="en-US" sz="1200" i="1" dirty="0" err="1"/>
                        <a:t>Informatika</a:t>
                      </a:r>
                      <a:r>
                        <a:rPr lang="en-US" sz="1200" i="1" dirty="0"/>
                        <a:t> (JUTIF)</a:t>
                      </a:r>
                      <a:r>
                        <a:rPr lang="en-US" sz="1200" dirty="0"/>
                        <a:t>, 6(5), 2025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Dataset of 3,300 behavior entries, 11 features; waterfall framework for preprocessing + KNN + Permutation Feature Importance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KNN achieved 95% accuracy; "App Usage Time" and "Battery Drain" were the strongest predictors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Only one algorithm tested (no ensemble comparison); no dashboard for exploring predictions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https://jutif.if.unsoed.ac.id/index.php/jurnal/article/view/4905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/>
                        <a:t>Azeez, H. H. [10]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Learning-Based Prediction of Smartphone Addiction Using Behavioral Usage Features,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 Kaggle dataset (500 users); RF, SVM, Logistic Regression, DT compared with 80/20 stratified split, 10-fold CV, SMOTE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best (Accuracy 88.4%, F1 0.898, AUC 0.923); screen time, notifications, sleep duration were top predictors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Small dataset (500 users) limits generalizability; single-dataset study, no external validation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https://alfarabiuc.edu.iq/Journal/index.php/Farabi-Eng/en/article/view/111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963941">
                <a:tc>
                  <a:txBody>
                    <a:bodyPr/>
                    <a:lstStyle/>
                    <a:p>
                      <a:r>
                        <a:rPr lang="en-US" sz="1200" dirty="0"/>
                        <a:t>Osorio, Figueroa &amp; Wong [13]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Smartphone Addiction in Teenagers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Random Forest applied to Big Five Inventory (BFI) + Smartphone Addiction Scale (SAS) data from teenagers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Personality traits (e.g., neuroticism) show significant association with addiction risk; RF captures nonlinear relations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Sample limited to Peruvian teenagers; personality data not combined with actual usage logs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https://www.ijitra.com/index.php/ijitra/article/view/192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31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FC4F45-0A2D-72D2-B796-FF95FC996CF1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EBF22-719F-59FE-C149-849567CB1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7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Gap Content"/>
          <p:cNvSpPr txBox="1"/>
          <p:nvPr/>
        </p:nvSpPr>
        <p:spPr>
          <a:xfrm>
            <a:off x="770021" y="1246409"/>
            <a:ext cx="10529979" cy="525359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studies often analyze </a:t>
            </a:r>
            <a:r>
              <a:rPr lang="en-US" sz="2000" b="1" dirty="0"/>
              <a:t>student social media usage</a:t>
            </a:r>
            <a:r>
              <a:rPr lang="en-US" sz="2000" dirty="0"/>
              <a:t> using individual datasets without combining multiple data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Most approaches focus on </a:t>
            </a:r>
            <a:r>
              <a:rPr lang="en-US" sz="2000" b="1" dirty="0"/>
              <a:t>basic statistics and visualizations</a:t>
            </a:r>
            <a:r>
              <a:rPr lang="en-US" sz="2000" dirty="0"/>
              <a:t> and do not integrate statistical testing with machine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limited use of </a:t>
            </a:r>
            <a:r>
              <a:rPr lang="en-US" sz="2000" b="1" dirty="0"/>
              <a:t>original student survey responses collected through Google Sheets</a:t>
            </a:r>
            <a:r>
              <a:rPr lang="en-US" sz="2000" dirty="0"/>
              <a:t> along with public datasets for a combined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tools generally do not provide an </a:t>
            </a:r>
            <a:r>
              <a:rPr lang="en-US" sz="2000" b="1" dirty="0"/>
              <a:t>end-to-end workflow</a:t>
            </a:r>
            <a:r>
              <a:rPr lang="en-US" sz="2000" dirty="0"/>
              <a:t> covering data cleaning, EDA, statistical analysis, ML classification,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Students are rarely classified into simple usage groups such as </a:t>
            </a:r>
            <a:r>
              <a:rPr lang="en-US" sz="2000" b="1" dirty="0"/>
              <a:t>Low, Moderate, and Heavy</a:t>
            </a:r>
            <a:r>
              <a:rPr lang="en-US" sz="2000" dirty="0"/>
              <a:t>, making </a:t>
            </a:r>
            <a:r>
              <a:rPr lang="en-US" sz="2000" dirty="0" err="1"/>
              <a:t>behavioural</a:t>
            </a:r>
            <a:r>
              <a:rPr lang="en-US" sz="2000" dirty="0"/>
              <a:t> patterns harder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user-friendly Power BI dashboard</a:t>
            </a:r>
            <a:r>
              <a:rPr lang="en-US" sz="2000" dirty="0"/>
              <a:t> combining survey insights and ML results can help present the findings in a more accessible way.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Innovation Content"/>
          <p:cNvSpPr txBox="1"/>
          <p:nvPr/>
        </p:nvSpPr>
        <p:spPr>
          <a:xfrm>
            <a:off x="1157574" y="1971124"/>
            <a:ext cx="10400000" cy="4500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Combines </a:t>
            </a:r>
            <a:r>
              <a:rPr lang="en-US" sz="2000" b="1" dirty="0"/>
              <a:t>Google Sheets survey responses</a:t>
            </a:r>
            <a:r>
              <a:rPr lang="en-US" sz="2000" dirty="0"/>
              <a:t> with suitable Kaggle datasets to analyze student social media usage </a:t>
            </a:r>
            <a:r>
              <a:rPr lang="en-US" sz="2000" dirty="0" err="1"/>
              <a:t>behaviour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Integrates </a:t>
            </a:r>
            <a:r>
              <a:rPr lang="en-US" sz="2000" b="1" dirty="0"/>
              <a:t>statistical analysis and machine learning</a:t>
            </a:r>
            <a:r>
              <a:rPr lang="en-US" sz="2000" dirty="0"/>
              <a:t> in one workflow, including correlation, covariance, hypothesis testing, and Chi-square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Compares </a:t>
            </a:r>
            <a:r>
              <a:rPr lang="en-US" sz="2000" b="1" dirty="0"/>
              <a:t>five ML algorithms</a:t>
            </a:r>
            <a:r>
              <a:rPr lang="en-US" sz="2000" dirty="0"/>
              <a:t> — Logistic Regression, Decision Tree, Random Forest, KNN, and SVM — using accuracy, precision, recall, and F1-score.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Classifies students into three simple categories: </a:t>
            </a:r>
            <a:r>
              <a:rPr lang="en-US" sz="2000" b="1" dirty="0"/>
              <a:t>Low, Moderate, and Heavy social media users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Automates the complete </a:t>
            </a:r>
            <a:r>
              <a:rPr lang="en-US" sz="2000" b="1" dirty="0"/>
              <a:t>Data Science lifecycle</a:t>
            </a:r>
            <a:r>
              <a:rPr lang="en-US" sz="2000" dirty="0"/>
              <a:t> from data collection and cleaning to EDA, ML analysis,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Uses an interactive </a:t>
            </a:r>
            <a:r>
              <a:rPr lang="en-US" sz="2000" b="1" dirty="0"/>
              <a:t>Power BI dashboard</a:t>
            </a:r>
            <a:r>
              <a:rPr lang="en-US" sz="2000" dirty="0"/>
              <a:t> to present survey findings, usage patterns, and ML results clearly. </a:t>
            </a:r>
          </a:p>
          <a:p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96000" y="1747869"/>
            <a:ext cx="10400000" cy="115000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freely available tools (Python, Pandas, NumPy, Scikit-learn, Power BI) and datasets (Google Sheets survey responses, Kaggle datasets), making the project technically and financially feasible.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workflow is divided into clear phases — Data Collection, Preprocessing, EDA, Statistical Analysis, Machine Learning, Dashboard, and Insights — each with a defined timeline as shown below.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team's familiarity with Python and Data Science libraries supports on-time completion within the project review timeline.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0" name="Timelin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00" y="3220000"/>
            <a:ext cx="9576000" cy="3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1548</Words>
  <Application>Microsoft Office PowerPoint</Application>
  <PresentationFormat>Widescreen</PresentationFormat>
  <Paragraphs>157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Jahnavi Raavi</cp:lastModifiedBy>
  <cp:revision>37</cp:revision>
  <dcterms:created xsi:type="dcterms:W3CDTF">2026-08-08T06:33:56Z</dcterms:created>
  <dcterms:modified xsi:type="dcterms:W3CDTF">2026-09-17T05:51:31Z</dcterms:modified>
</cp:coreProperties>
</file>